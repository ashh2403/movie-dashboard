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4FF"/>
                </a:solidFill>
                <a:latin typeface="Segoe UI"/>
              </a:rPr>
              <a:t>RESULTS: </a:t>
            </a:r>
            <a:r>
              <a:rPr sz="2800" b="1">
                <a:solidFill>
                  <a:srgbClr val="FF8C1A"/>
                </a:solidFill>
                <a:latin typeface="Segoe UI"/>
              </a:rPr>
              <a:t>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B3DE"/>
                </a:solidFill>
                <a:latin typeface="Segoe UI"/>
              </a:rPr>
              <a:t>Python + Streamlit implementation of the Power BI design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07008"/>
            <a:ext cx="1097280" cy="54864"/>
          </a:xfrm>
          <a:prstGeom prst="rect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5_1_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162" y="1417320"/>
            <a:ext cx="4865676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3DE"/>
                </a:solidFill>
                <a:latin typeface="Segoe UI"/>
              </a:rPr>
              <a:t>Movie Industry Performance Dashboard · School of Computing - CSE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9B3DE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4FF"/>
                </a:solidFill>
                <a:latin typeface="Segoe UI"/>
              </a:rPr>
              <a:t>KEY </a:t>
            </a:r>
            <a:r>
              <a:rPr sz="2800" b="1">
                <a:solidFill>
                  <a:srgbClr val="FF8C1A"/>
                </a:solidFill>
                <a:latin typeface="Segoe UI"/>
              </a:rPr>
              <a:t>PERFORMANCE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B3DE"/>
                </a:solidFill>
                <a:latin typeface="Segoe UI"/>
              </a:rPr>
              <a:t>Totals match the Power BI dashboard exactly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07008"/>
            <a:ext cx="1097280" cy="54864"/>
          </a:xfrm>
          <a:prstGeom prst="rect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2763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1B1B"/>
                </a:solidFill>
                <a:latin typeface="Segoe UI"/>
              </a:rPr>
              <a:t>Total Movies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01952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Segoe UI"/>
              </a:rPr>
              <a:t>5,421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42316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B1B1B"/>
                </a:solidFill>
                <a:latin typeface="Segoe UI"/>
              </a:rPr>
              <a:t>1980–2020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96312" y="155448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62763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1B1B"/>
                </a:solidFill>
                <a:latin typeface="Segoe UI"/>
              </a:rPr>
              <a:t>Total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1901952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Segoe UI"/>
              </a:rPr>
              <a:t>560bn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33472" y="242316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B1B1B"/>
                </a:solidFill>
                <a:latin typeface="Segoe UI"/>
              </a:rPr>
              <a:t>avg 103M / movie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26864" y="155448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162763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1B1B"/>
                </a:solidFill>
                <a:latin typeface="Segoe UI"/>
              </a:rPr>
              <a:t>Sum of Rating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64024" y="1901952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B1B1B"/>
                </a:solidFill>
                <a:latin typeface="Segoe UI"/>
              </a:rPr>
              <a:t>34,653.5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4024" y="242316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B1B1B"/>
                </a:solidFill>
                <a:latin typeface="Segoe UI"/>
              </a:rPr>
              <a:t>average 6.39 / 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57416" y="1554480"/>
            <a:ext cx="1965960" cy="1234440"/>
          </a:xfrm>
          <a:prstGeom prst="roundRect">
            <a:avLst>
              <a:gd name="adj" fmla="val 6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4576" y="1627632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1B1B1B"/>
                </a:solidFill>
                <a:latin typeface="Segoe UI"/>
              </a:rPr>
              <a:t>Total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94576" y="1901952"/>
            <a:ext cx="16916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B1B1B"/>
                </a:solidFill>
                <a:latin typeface="Segoe UI"/>
              </a:rPr>
              <a:t>195bn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94576" y="2423160"/>
            <a:ext cx="1691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1B1B1B"/>
                </a:solidFill>
                <a:latin typeface="Segoe UI"/>
              </a:rPr>
              <a:t>revenue ÷ budget = 2.87x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08960"/>
            <a:ext cx="82296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8C1A"/>
                </a:solidFill>
              </a:rPr>
              <a:t>▶  </a:t>
            </a:r>
            <a:r>
              <a:rPr sz="1500">
                <a:solidFill>
                  <a:srgbClr val="F2F4FF"/>
                </a:solidFill>
                <a:latin typeface="Segoe UI"/>
              </a:rPr>
              <a:t>Dataset: 5,421 movies, 15 attributes; 0 missing values and 0 duplicates after cleaning (9 certificate labels after merging 'Unrated' → 'Not Rated').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8C1A"/>
                </a:solidFill>
              </a:rPr>
              <a:t>▶  </a:t>
            </a:r>
            <a:r>
              <a:rPr sz="1500">
                <a:solidFill>
                  <a:srgbClr val="F2F4FF"/>
                </a:solidFill>
                <a:latin typeface="Segoe UI"/>
              </a:rPr>
              <a:t>Median revenue is only 36.9M vs a mean of 103M: a few blockbusters earn far more than a typical film.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8C1A"/>
                </a:solidFill>
              </a:rPr>
              <a:t>▶  </a:t>
            </a:r>
            <a:r>
              <a:rPr sz="1500">
                <a:solidFill>
                  <a:srgbClr val="F2F4FF"/>
                </a:solidFill>
                <a:latin typeface="Segoe UI"/>
              </a:rPr>
              <a:t>Total profit 364bn, yet 32% of films earned less than their budget (median ROI 84%).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8C1A"/>
                </a:solidFill>
              </a:rPr>
              <a:t>▶  </a:t>
            </a:r>
            <a:r>
              <a:rPr sz="1500">
                <a:solidFill>
                  <a:srgbClr val="F2F4FF"/>
                </a:solidFill>
                <a:latin typeface="Segoe UI"/>
              </a:rPr>
              <a:t>Budget ↔ revenue r = 0.74; votes ↔ revenue r = 0.61; score ↔ revenue r = 0.22.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3DE"/>
                </a:solidFill>
                <a:latin typeface="Segoe UI"/>
              </a:rPr>
              <a:t>Movie Industry Performance Dashboard · School of Computing - CSE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9B3DE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4FF"/>
                </a:solidFill>
                <a:latin typeface="Segoe UI"/>
              </a:rPr>
              <a:t>GENRE </a:t>
            </a:r>
            <a:r>
              <a:rPr sz="2800" b="1">
                <a:solidFill>
                  <a:srgbClr val="FF8C1A"/>
                </a:solidFill>
                <a:latin typeface="Segoe UI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B3DE"/>
                </a:solidFill>
                <a:latin typeface="Segoe UI"/>
              </a:rPr>
              <a:t>Module 3 – Revenue &amp; Genre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07008"/>
            <a:ext cx="1097280" cy="54864"/>
          </a:xfrm>
          <a:prstGeom prst="rect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venue_by_gen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4251960" cy="2775585"/>
          </a:xfrm>
          <a:prstGeom prst="rect">
            <a:avLst/>
          </a:prstGeom>
        </p:spPr>
      </p:pic>
      <p:pic>
        <p:nvPicPr>
          <p:cNvPr id="6" name="Picture 5" descr="avg_revenue_by_gen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63040"/>
            <a:ext cx="4251960" cy="2775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43484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FF8C1A"/>
                </a:solidFill>
              </a:rPr>
              <a:t>▶  </a:t>
            </a:r>
            <a:r>
              <a:rPr sz="1400">
                <a:solidFill>
                  <a:srgbClr val="F2F4FF"/>
                </a:solidFill>
                <a:latin typeface="Segoe UI"/>
              </a:rPr>
              <a:t>Action earns 238bn = 42% of all revenue; the top 3 genres earn 72%.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8C1A"/>
                </a:solidFill>
              </a:rPr>
              <a:t>▶  </a:t>
            </a:r>
            <a:r>
              <a:rPr sz="1400">
                <a:solidFill>
                  <a:srgbClr val="F2F4FF"/>
                </a:solidFill>
                <a:latin typeface="Segoe UI"/>
              </a:rPr>
              <a:t>Best per film: Animation (281M average) · best return: Horror (median ROI 208%).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8C1A"/>
                </a:solidFill>
              </a:rPr>
              <a:t>▶  </a:t>
            </a:r>
            <a:r>
              <a:rPr sz="1400">
                <a:solidFill>
                  <a:srgbClr val="F2F4FF"/>
                </a:solidFill>
                <a:latin typeface="Segoe UI"/>
              </a:rPr>
              <a:t>Highest rated: Biography (7.09) – high-rated genres are not the high-earning ones.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8C1A"/>
                </a:solidFill>
              </a:rPr>
              <a:t>▶  </a:t>
            </a:r>
            <a:r>
              <a:rPr sz="1400">
                <a:solidFill>
                  <a:srgbClr val="F2F4FF"/>
                </a:solidFill>
                <a:latin typeface="Segoe UI"/>
              </a:rPr>
              <a:t>5 small genres (e.g. Family, 4 films) are hidden from averages (minimum 10 films).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3DE"/>
                </a:solidFill>
                <a:latin typeface="Segoe UI"/>
              </a:rPr>
              <a:t>Movie Industry Performance Dashboard · School of Computing -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9B3DE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4FF"/>
                </a:solidFill>
                <a:latin typeface="Segoe UI"/>
              </a:rPr>
              <a:t>ACTOR &amp; DIRECTOR </a:t>
            </a:r>
            <a:r>
              <a:rPr sz="2800" b="1">
                <a:solidFill>
                  <a:srgbClr val="FF8C1A"/>
                </a:solidFill>
                <a:latin typeface="Segoe UI"/>
              </a:rPr>
              <a:t>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B3DE"/>
                </a:solidFill>
                <a:latin typeface="Segoe UI"/>
              </a:rPr>
              <a:t>Module 5 – top performers by revenue and rating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07008"/>
            <a:ext cx="1097280" cy="54864"/>
          </a:xfrm>
          <a:prstGeom prst="rect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op_st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4251960" cy="2775585"/>
          </a:xfrm>
          <a:prstGeom prst="rect">
            <a:avLst/>
          </a:prstGeom>
        </p:spPr>
      </p:pic>
      <p:pic>
        <p:nvPicPr>
          <p:cNvPr id="6" name="Picture 5" descr="top_dire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463040"/>
            <a:ext cx="4251960" cy="27755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4434840"/>
            <a:ext cx="82296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>
                <a:solidFill>
                  <a:srgbClr val="FF8C1A"/>
                </a:solidFill>
              </a:rPr>
              <a:t>▶  </a:t>
            </a:r>
            <a:r>
              <a:rPr sz="1400">
                <a:solidFill>
                  <a:srgbClr val="F2F4FF"/>
                </a:solidFill>
                <a:latin typeface="Segoe UI"/>
              </a:rPr>
              <a:t>Top star: Robert Downey Jr. – 11.9bn from 19 films.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8C1A"/>
                </a:solidFill>
              </a:rPr>
              <a:t>▶  </a:t>
            </a:r>
            <a:r>
              <a:rPr sz="1400">
                <a:solidFill>
                  <a:srgbClr val="F2F4FF"/>
                </a:solidFill>
                <a:latin typeface="Segoe UI"/>
              </a:rPr>
              <a:t>Top director: Steven Spielberg – 9.6bn from 27 films (avg score 7.44).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8C1A"/>
                </a:solidFill>
              </a:rPr>
              <a:t>▶  </a:t>
            </a:r>
            <a:r>
              <a:rPr sz="1400">
                <a:solidFill>
                  <a:srgbClr val="F2F4FF"/>
                </a:solidFill>
                <a:latin typeface="Segoe UI"/>
              </a:rPr>
              <a:t>Top 10 directors earn 11% of revenue; top 10 stars earn 14%.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FF8C1A"/>
                </a:solidFill>
              </a:rPr>
              <a:t>▶  </a:t>
            </a:r>
            <a:r>
              <a:rPr sz="1400">
                <a:solidFill>
                  <a:srgbClr val="F2F4FF"/>
                </a:solidFill>
                <a:latin typeface="Segoe UI"/>
              </a:rPr>
              <a:t>Highest-rated director (≥ 5 films): Christopher Nolan (8.16).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3DE"/>
                </a:solidFill>
                <a:latin typeface="Segoe UI"/>
              </a:rPr>
              <a:t>Movie Industry Performance Dashboard · School of Computing - CSE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9B3DE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4FF"/>
                </a:solidFill>
                <a:latin typeface="Segoe UI"/>
              </a:rPr>
              <a:t>KEY INSIGHTS INTO </a:t>
            </a:r>
            <a:r>
              <a:rPr sz="2800" b="1">
                <a:solidFill>
                  <a:srgbClr val="FF8C1A"/>
                </a:solidFill>
                <a:latin typeface="Segoe UI"/>
              </a:rPr>
              <a:t>MARKET TRENDS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B3DE"/>
                </a:solidFill>
                <a:latin typeface="Segoe UI"/>
              </a:rPr>
              <a:t>Module 6 – generated automatically from the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07008"/>
            <a:ext cx="1097280" cy="54864"/>
          </a:xfrm>
          <a:prstGeom prst="rect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08760"/>
            <a:ext cx="4114800" cy="2377440"/>
          </a:xfrm>
          <a:prstGeom prst="roundRect">
            <a:avLst>
              <a:gd name="adj" fmla="val 6000"/>
            </a:avLst>
          </a:prstGeom>
          <a:solidFill>
            <a:srgbClr val="FFF6D6"/>
          </a:solidFill>
          <a:ln w="19050">
            <a:solidFill>
              <a:srgbClr val="FF8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18488"/>
            <a:ext cx="3749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7FB8"/>
                </a:solidFill>
                <a:latin typeface="Segoe UI"/>
              </a:rPr>
              <a:t>1. REVENUE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3749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Segoe UI"/>
              </a:rPr>
              <a:t>Movies released in 2016-2020 earned 113bn, 873% higher than the 11.6bn earned in 1980-1984. The peak year was 2016 (27.8bn). Note: 2020 has only 8 movies.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3749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481C"/>
                </a:solidFill>
                <a:latin typeface="Segoe UI"/>
              </a:rPr>
              <a:t>Key takeaway: Revenue has grown over time (figures are not inflation-adjusted).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508760"/>
            <a:ext cx="4114800" cy="2377440"/>
          </a:xfrm>
          <a:prstGeom prst="roundRect">
            <a:avLst>
              <a:gd name="adj" fmla="val 6000"/>
            </a:avLst>
          </a:prstGeom>
          <a:solidFill>
            <a:srgbClr val="FFF6D6"/>
          </a:solidFill>
          <a:ln w="19050">
            <a:solidFill>
              <a:srgbClr val="FF8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618488"/>
            <a:ext cx="3749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7FB8"/>
                </a:solidFill>
                <a:latin typeface="Segoe UI"/>
              </a:rPr>
              <a:t>2. GENRE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011680"/>
            <a:ext cx="3749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Segoe UI"/>
              </a:rPr>
              <a:t>Action leads with 238bn, 42% of all revenue from 1,415 movies. The top 3 genres together earn 72%.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46120"/>
            <a:ext cx="3749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481C"/>
                </a:solidFill>
                <a:latin typeface="Segoe UI"/>
              </a:rPr>
              <a:t>Key takeaway: Revenue is concentrated: Action earns over twice an even share.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4069080"/>
            <a:ext cx="4114800" cy="2377440"/>
          </a:xfrm>
          <a:prstGeom prst="roundRect">
            <a:avLst>
              <a:gd name="adj" fmla="val 6000"/>
            </a:avLst>
          </a:prstGeom>
          <a:solidFill>
            <a:srgbClr val="FFF6D6"/>
          </a:solidFill>
          <a:ln w="19050">
            <a:solidFill>
              <a:srgbClr val="FF8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78808"/>
            <a:ext cx="3749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7FB8"/>
                </a:solidFill>
                <a:latin typeface="Segoe UI"/>
              </a:rPr>
              <a:t>3. DIRECTOR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3749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Segoe UI"/>
              </a:rPr>
              <a:t>The top 10 of 2,063 directors earn 11% of revenue while making only 2% of the movies. Steven Spielberg leads with 9.6bn from 27 films.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806440"/>
            <a:ext cx="3749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481C"/>
                </a:solidFill>
                <a:latin typeface="Segoe UI"/>
              </a:rPr>
              <a:t>Key takeaway: Top directors earn 4.5x their share of movies.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63440" y="4069080"/>
            <a:ext cx="4114800" cy="2377440"/>
          </a:xfrm>
          <a:prstGeom prst="roundRect">
            <a:avLst>
              <a:gd name="adj" fmla="val 6000"/>
            </a:avLst>
          </a:prstGeom>
          <a:solidFill>
            <a:srgbClr val="FFF6D6"/>
          </a:solidFill>
          <a:ln w="19050">
            <a:solidFill>
              <a:srgbClr val="FF8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4178808"/>
            <a:ext cx="3749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E7FB8"/>
                </a:solidFill>
                <a:latin typeface="Segoe UI"/>
              </a:rPr>
              <a:t>4. AUDIENCE RATINGS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572000"/>
            <a:ext cx="3749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1B1B1B"/>
                </a:solidFill>
                <a:latin typeface="Segoe UI"/>
              </a:rPr>
              <a:t>Score vs revenue correlation is 0.22 (weak positive); votes vs revenue is 0.61 (strong positive). Biography has the highest average score (7.09).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5806440"/>
            <a:ext cx="3749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B5481C"/>
                </a:solidFill>
                <a:latin typeface="Segoe UI"/>
              </a:rPr>
              <a:t>Key takeaway: Popularity (votes) is linked to revenue more than the score is.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3DE"/>
                </a:solidFill>
                <a:latin typeface="Segoe UI"/>
              </a:rPr>
              <a:t>Movie Industry Performance Dashboard · School of Computing - CSE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9B3DE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2F4FF"/>
                </a:solidFill>
                <a:latin typeface="Segoe UI"/>
              </a:rPr>
              <a:t>SYSTEM </a:t>
            </a:r>
            <a:r>
              <a:rPr sz="2800" b="1">
                <a:solidFill>
                  <a:srgbClr val="FF8C1A"/>
                </a:solidFill>
                <a:latin typeface="Segoe U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22960"/>
            <a:ext cx="8412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A9B3DE"/>
                </a:solidFill>
                <a:latin typeface="Segoe UI"/>
              </a:rPr>
              <a:t>Layered design: each layer is one or more Python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207008"/>
            <a:ext cx="1097280" cy="54864"/>
          </a:xfrm>
          <a:prstGeom prst="rect">
            <a:avLst/>
          </a:prstGeom>
          <a:solidFill>
            <a:srgbClr val="FF8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" y="1828800"/>
            <a:ext cx="1572768" cy="2377440"/>
          </a:xfrm>
          <a:prstGeom prst="roundRect">
            <a:avLst>
              <a:gd name="adj" fmla="val 6000"/>
            </a:avLst>
          </a:prstGeom>
          <a:solidFill>
            <a:srgbClr val="17245E"/>
          </a:solidFill>
          <a:ln w="19050">
            <a:solidFill>
              <a:srgbClr val="FF8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" y="1828800"/>
            <a:ext cx="1572768" cy="502920"/>
          </a:xfrm>
          <a:prstGeom prst="roundRect">
            <a:avLst>
              <a:gd name="adj" fmla="val 6000"/>
            </a:avLst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828800"/>
            <a:ext cx="15727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37"/>
                </a:solidFill>
                <a:latin typeface="Segoe UI"/>
              </a:rPr>
              <a:t>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" y="242316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C518"/>
                </a:solidFill>
                <a:latin typeface="Segoe UI"/>
              </a:rPr>
              <a:t>Module 1 · Data Collection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3017520"/>
            <a:ext cx="14264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2F4FF"/>
                </a:solidFill>
                <a:latin typeface="Segoe UI"/>
              </a:rPr>
              <a:t>cleaned_data_final.csv</a:t>
            </a:r>
          </a:p>
          <a:p>
            <a:pPr algn="ctr"/>
            <a:r>
              <a:rPr sz="1000" b="0">
                <a:solidFill>
                  <a:srgbClr val="F2F4FF"/>
                </a:solidFill>
                <a:latin typeface="Segoe UI"/>
              </a:rPr>
              <a:t>src/data_loader.py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29968" y="1828800"/>
            <a:ext cx="1572768" cy="2377440"/>
          </a:xfrm>
          <a:prstGeom prst="roundRect">
            <a:avLst>
              <a:gd name="adj" fmla="val 6000"/>
            </a:avLst>
          </a:prstGeom>
          <a:solidFill>
            <a:srgbClr val="17245E"/>
          </a:solidFill>
          <a:ln w="19050">
            <a:solidFill>
              <a:srgbClr val="FF8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29968" y="1828800"/>
            <a:ext cx="1572768" cy="502920"/>
          </a:xfrm>
          <a:prstGeom prst="roundRect">
            <a:avLst>
              <a:gd name="adj" fmla="val 6000"/>
            </a:avLst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29968" y="1828800"/>
            <a:ext cx="15727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37"/>
                </a:solidFill>
                <a:latin typeface="Segoe UI"/>
              </a:rPr>
              <a:t>Preprocessing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42316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C518"/>
                </a:solidFill>
                <a:latin typeface="Segoe UI"/>
              </a:rPr>
              <a:t>Module 2 · Data Preprocessing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017520"/>
            <a:ext cx="14264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2F4FF"/>
                </a:solidFill>
                <a:latin typeface="Segoe UI"/>
              </a:rPr>
              <a:t>missing values, duplicates,</a:t>
            </a:r>
          </a:p>
          <a:p>
            <a:pPr algn="ctr"/>
            <a:r>
              <a:rPr sz="1000" b="0">
                <a:solidFill>
                  <a:srgbClr val="F2F4FF"/>
                </a:solidFill>
                <a:latin typeface="Segoe UI"/>
              </a:rPr>
              <a:t>labels · src/preprocessing.py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39896" y="1828800"/>
            <a:ext cx="1572768" cy="2377440"/>
          </a:xfrm>
          <a:prstGeom prst="roundRect">
            <a:avLst>
              <a:gd name="adj" fmla="val 6000"/>
            </a:avLst>
          </a:prstGeom>
          <a:solidFill>
            <a:srgbClr val="17245E"/>
          </a:solidFill>
          <a:ln w="19050">
            <a:solidFill>
              <a:srgbClr val="FF8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739896" y="1828800"/>
            <a:ext cx="1572768" cy="502920"/>
          </a:xfrm>
          <a:prstGeom prst="roundRect">
            <a:avLst>
              <a:gd name="adj" fmla="val 6000"/>
            </a:avLst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9896" y="1828800"/>
            <a:ext cx="15727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37"/>
                </a:solidFill>
                <a:latin typeface="Segoe UI"/>
              </a:rPr>
              <a:t>Analysis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242316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C518"/>
                </a:solidFill>
                <a:latin typeface="Segoe UI"/>
              </a:rPr>
              <a:t>Modules 3, 4,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3017520"/>
            <a:ext cx="14264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2F4FF"/>
                </a:solidFill>
                <a:latin typeface="Segoe UI"/>
              </a:rPr>
              <a:t>revenue &amp; genre · ratings ·</a:t>
            </a:r>
          </a:p>
          <a:p>
            <a:pPr algn="ctr"/>
            <a:r>
              <a:rPr sz="1000" b="0">
                <a:solidFill>
                  <a:srgbClr val="F2F4FF"/>
                </a:solidFill>
                <a:latin typeface="Segoe UI"/>
              </a:rPr>
              <a:t>actors &amp; directors · src/analysis.py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49824" y="1828800"/>
            <a:ext cx="1572768" cy="2377440"/>
          </a:xfrm>
          <a:prstGeom prst="roundRect">
            <a:avLst>
              <a:gd name="adj" fmla="val 6000"/>
            </a:avLst>
          </a:prstGeom>
          <a:solidFill>
            <a:srgbClr val="17245E"/>
          </a:solidFill>
          <a:ln w="19050">
            <a:solidFill>
              <a:srgbClr val="FF8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449824" y="1828800"/>
            <a:ext cx="1572768" cy="502920"/>
          </a:xfrm>
          <a:prstGeom prst="roundRect">
            <a:avLst>
              <a:gd name="adj" fmla="val 6000"/>
            </a:avLst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9824" y="1828800"/>
            <a:ext cx="15727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37"/>
                </a:solidFill>
                <a:latin typeface="Segoe UI"/>
              </a:rPr>
              <a:t>Visualization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22976" y="242316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C518"/>
                </a:solidFill>
                <a:latin typeface="Segoe UI"/>
              </a:rPr>
              <a:t>Module 6 · Charts &amp;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22976" y="3017520"/>
            <a:ext cx="14264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2F4FF"/>
                </a:solidFill>
                <a:latin typeface="Segoe UI"/>
              </a:rPr>
              <a:t>Plotly charts · KPI cards ·</a:t>
            </a:r>
          </a:p>
          <a:p>
            <a:pPr algn="ctr"/>
            <a:r>
              <a:rPr sz="1000" b="0">
                <a:solidFill>
                  <a:srgbClr val="F2F4FF"/>
                </a:solidFill>
                <a:latin typeface="Segoe UI"/>
              </a:rPr>
              <a:t>src/figures.py, src/insights.py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9752" y="1828800"/>
            <a:ext cx="1572768" cy="2377440"/>
          </a:xfrm>
          <a:prstGeom prst="roundRect">
            <a:avLst>
              <a:gd name="adj" fmla="val 6000"/>
            </a:avLst>
          </a:prstGeom>
          <a:solidFill>
            <a:srgbClr val="17245E"/>
          </a:solidFill>
          <a:ln w="19050">
            <a:solidFill>
              <a:srgbClr val="FF8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59752" y="1828800"/>
            <a:ext cx="1572768" cy="502920"/>
          </a:xfrm>
          <a:prstGeom prst="roundRect">
            <a:avLst>
              <a:gd name="adj" fmla="val 6000"/>
            </a:avLst>
          </a:prstGeom>
          <a:solidFill>
            <a:srgbClr val="FF8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9752" y="1828800"/>
            <a:ext cx="157276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0B1437"/>
                </a:solidFill>
                <a:latin typeface="Segoe UI"/>
              </a:rPr>
              <a:t>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2904" y="2423160"/>
            <a:ext cx="14264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C518"/>
                </a:solidFill>
                <a:latin typeface="Segoe UI"/>
              </a:rPr>
              <a:t>Streamlit web 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2904" y="3017520"/>
            <a:ext cx="1426464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F2F4FF"/>
                </a:solidFill>
                <a:latin typeface="Segoe UI"/>
              </a:rPr>
              <a:t>7 pages · shared filters ·</a:t>
            </a:r>
          </a:p>
          <a:p>
            <a:pPr algn="ctr"/>
            <a:r>
              <a:rPr sz="1000" b="0">
                <a:solidFill>
                  <a:srgbClr val="F2F4FF"/>
                </a:solidFill>
                <a:latin typeface="Segoe UI"/>
              </a:rPr>
              <a:t>CSV download · app.py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892808" y="3017520"/>
            <a:ext cx="137160" cy="0"/>
          </a:xfrm>
          <a:prstGeom prst="line">
            <a:avLst/>
          </a:prstGeom>
          <a:ln w="31750">
            <a:solidFill>
              <a:srgbClr val="F5C5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602736" y="3017520"/>
            <a:ext cx="137160" cy="0"/>
          </a:xfrm>
          <a:prstGeom prst="line">
            <a:avLst/>
          </a:prstGeom>
          <a:ln w="31750">
            <a:solidFill>
              <a:srgbClr val="F5C5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312664" y="3017520"/>
            <a:ext cx="137160" cy="0"/>
          </a:xfrm>
          <a:prstGeom prst="line">
            <a:avLst/>
          </a:prstGeom>
          <a:ln w="31750">
            <a:solidFill>
              <a:srgbClr val="F5C5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022592" y="3017520"/>
            <a:ext cx="137160" cy="0"/>
          </a:xfrm>
          <a:prstGeom prst="line">
            <a:avLst/>
          </a:prstGeom>
          <a:ln w="31750">
            <a:solidFill>
              <a:srgbClr val="F5C51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017520" y="4709160"/>
            <a:ext cx="3108960" cy="685800"/>
          </a:xfrm>
          <a:prstGeom prst="roundRect">
            <a:avLst>
              <a:gd name="adj" fmla="val 6000"/>
            </a:avLst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017520" y="4709160"/>
            <a:ext cx="3108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B1B1B"/>
                </a:solidFill>
                <a:latin typeface="Segoe UI"/>
              </a:rPr>
              <a:t>👤 User: filters by genre, year, certificate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5577840"/>
            <a:ext cx="8412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9B3DE"/>
                </a:solidFill>
                <a:latin typeface="Segoe UI"/>
              </a:rPr>
              <a:t>Every filter change re-runs the analysis on the filtered data, so all charts, KPIs and insight cards update together. Tests (pytest) check each layer.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9B3DE"/>
                </a:solidFill>
                <a:latin typeface="Segoe UI"/>
              </a:rPr>
              <a:t>Movie Industry Performance Dashboard · School of Computing - CSE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9B3DE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